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Anantason Bold" charset="1" panose="00000000000000000000"/>
      <p:regular r:id="rId29"/>
    </p:embeddedFont>
    <p:embeddedFont>
      <p:font typeface="Cloud" charset="1" panose="02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48231" y="2829344"/>
            <a:ext cx="15591538" cy="377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PYKV: A SCALABLE IN-MEMORY KEY-VALUE STORE WITH PERSISTENCE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96034" y="923925"/>
            <a:ext cx="9483611" cy="788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11"/>
              </a:lnSpc>
            </a:pPr>
            <a:r>
              <a:rPr lang="en-US" b="true" sz="5579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TEAM C</a:t>
            </a:r>
          </a:p>
          <a:p>
            <a:pPr algn="ctr">
              <a:lnSpc>
                <a:spcPts val="7811"/>
              </a:lnSpc>
            </a:pPr>
          </a:p>
          <a:p>
            <a:pPr algn="ctr">
              <a:lnSpc>
                <a:spcPts val="7811"/>
              </a:lnSpc>
            </a:pPr>
            <a:r>
              <a:rPr lang="en-US" b="true" sz="5579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DIVYAPPRIYA S</a:t>
            </a:r>
          </a:p>
          <a:p>
            <a:pPr algn="ctr">
              <a:lnSpc>
                <a:spcPts val="7811"/>
              </a:lnSpc>
            </a:pPr>
            <a:r>
              <a:rPr lang="en-US" b="true" sz="5579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MANASHI DEBNATH </a:t>
            </a:r>
          </a:p>
          <a:p>
            <a:pPr algn="ctr">
              <a:lnSpc>
                <a:spcPts val="7811"/>
              </a:lnSpc>
            </a:pPr>
            <a:r>
              <a:rPr lang="en-US" b="true" sz="5579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HARI PRIYAN </a:t>
            </a:r>
          </a:p>
          <a:p>
            <a:pPr algn="ctr">
              <a:lnSpc>
                <a:spcPts val="7811"/>
              </a:lnSpc>
            </a:pPr>
            <a:r>
              <a:rPr lang="en-US" b="true" sz="5579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SHAIK MAHABOOB BASHA </a:t>
            </a:r>
          </a:p>
          <a:p>
            <a:pPr algn="ctr">
              <a:lnSpc>
                <a:spcPts val="7811"/>
              </a:lnSpc>
            </a:pPr>
            <a:r>
              <a:rPr lang="en-US" b="true" sz="5579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DEVANSH TANTWAY</a:t>
            </a:r>
          </a:p>
          <a:p>
            <a:pPr algn="ctr">
              <a:lnSpc>
                <a:spcPts val="781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39355" y="847725"/>
            <a:ext cx="10009291" cy="164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b="true" sz="9604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INTRODUCTION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3093" y="2867444"/>
            <a:ext cx="17404907" cy="6243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Modern applications require fast data access</a:t>
            </a:r>
          </a:p>
          <a:p>
            <a:pPr algn="just">
              <a:lnSpc>
                <a:spcPts val="6299"/>
              </a:lnSpc>
            </a:pP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Traditional databases may introduce latency</a:t>
            </a:r>
          </a:p>
          <a:p>
            <a:pPr algn="just">
              <a:lnSpc>
                <a:spcPts val="6299"/>
              </a:lnSpc>
            </a:pP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In-memory storage provides speed but often lacks durability</a:t>
            </a:r>
          </a:p>
          <a:p>
            <a:pPr algn="just">
              <a:lnSpc>
                <a:spcPts val="6299"/>
              </a:lnSpc>
            </a:pP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PyKV aims to combine high speed with data persistence</a:t>
            </a:r>
          </a:p>
          <a:p>
            <a:pPr algn="just">
              <a:lnSpc>
                <a:spcPts val="573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98823" y="1020197"/>
            <a:ext cx="10890353" cy="122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7"/>
              </a:lnSpc>
            </a:pPr>
            <a:r>
              <a:rPr lang="en-US" b="true" sz="7205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71366" y="2618243"/>
            <a:ext cx="14471736" cy="621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43184" indent="-421592" lvl="1">
              <a:lnSpc>
                <a:spcPts val="5467"/>
              </a:lnSpc>
              <a:buFont typeface="Arial"/>
              <a:buChar char="•"/>
            </a:pPr>
            <a:r>
              <a:rPr lang="en-US" sz="3905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In-memory key-value stores are fast but lose data on restart</a:t>
            </a:r>
          </a:p>
          <a:p>
            <a:pPr algn="just">
              <a:lnSpc>
                <a:spcPts val="5467"/>
              </a:lnSpc>
            </a:pPr>
          </a:p>
          <a:p>
            <a:pPr algn="just" marL="843184" indent="-421592" lvl="1">
              <a:lnSpc>
                <a:spcPts val="5467"/>
              </a:lnSpc>
              <a:buFont typeface="Arial"/>
              <a:buChar char="•"/>
            </a:pPr>
            <a:r>
              <a:rPr lang="en-US" sz="3905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Persistent databases are reliable but slower</a:t>
            </a:r>
          </a:p>
          <a:p>
            <a:pPr algn="just">
              <a:lnSpc>
                <a:spcPts val="5467"/>
              </a:lnSpc>
            </a:pPr>
          </a:p>
          <a:p>
            <a:pPr algn="just" marL="907952" indent="-453976" lvl="1">
              <a:lnSpc>
                <a:spcPts val="5887"/>
              </a:lnSpc>
              <a:buFont typeface="Arial"/>
              <a:buChar char="•"/>
            </a:pPr>
            <a:r>
              <a:rPr lang="en-US" sz="4205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Need for a system that:</a:t>
            </a:r>
          </a:p>
          <a:p>
            <a:pPr algn="just">
              <a:lnSpc>
                <a:spcPts val="5467"/>
              </a:lnSpc>
            </a:pPr>
            <a:r>
              <a:rPr lang="en-US" sz="3905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       </a:t>
            </a:r>
            <a:r>
              <a:rPr lang="en-US" sz="3905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Stores data in memory</a:t>
            </a:r>
          </a:p>
          <a:p>
            <a:pPr algn="just">
              <a:lnSpc>
                <a:spcPts val="5467"/>
              </a:lnSpc>
            </a:pPr>
            <a:r>
              <a:rPr lang="en-US" sz="3905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       </a:t>
            </a:r>
            <a:r>
              <a:rPr lang="en-US" sz="3905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Persists data to disk</a:t>
            </a:r>
          </a:p>
          <a:p>
            <a:pPr algn="just">
              <a:lnSpc>
                <a:spcPts val="5467"/>
              </a:lnSpc>
            </a:pPr>
            <a:r>
              <a:rPr lang="en-US" sz="3905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       </a:t>
            </a:r>
            <a:r>
              <a:rPr lang="en-US" sz="3905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Recovers data after crash or restart</a:t>
            </a:r>
          </a:p>
          <a:p>
            <a:pPr algn="just">
              <a:lnSpc>
                <a:spcPts val="546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71366" y="1197413"/>
            <a:ext cx="14970500" cy="15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7"/>
              </a:lnSpc>
            </a:pPr>
            <a:r>
              <a:rPr lang="en-US" b="true" sz="8805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PROJECT 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48806" y="3662362"/>
            <a:ext cx="12376375" cy="4645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Design an in-memory key-value store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Implement automatic persistence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Enable crash-safe recovery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Expose operations through REST APIs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Provide a simple and clear demonstration</a:t>
            </a:r>
          </a:p>
          <a:p>
            <a:pPr algn="just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05830" y="1319353"/>
            <a:ext cx="12697996" cy="164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b="true" sz="9604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SYSTEM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88979" y="3242944"/>
            <a:ext cx="12376375" cy="532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28363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PyKV consists of three layers:</a:t>
            </a:r>
          </a:p>
          <a:p>
            <a:pPr algn="just" marL="928363" indent="-464181" lvl="1">
              <a:lnSpc>
                <a:spcPts val="6019"/>
              </a:lnSpc>
              <a:buAutoNum type="arabicPeriod" startAt="1"/>
            </a:pPr>
            <a:r>
              <a:rPr lang="en-US" sz="42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Core Storage Engine</a:t>
            </a:r>
          </a:p>
          <a:p>
            <a:pPr algn="just" marL="928363" indent="-464181" lvl="1">
              <a:lnSpc>
                <a:spcPts val="6019"/>
              </a:lnSpc>
              <a:buAutoNum type="arabicPeriod" startAt="1"/>
            </a:pPr>
            <a:r>
              <a:rPr lang="en-US" sz="42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Persistence Layer</a:t>
            </a:r>
          </a:p>
          <a:p>
            <a:pPr algn="just" marL="928363" indent="-464181" lvl="1">
              <a:lnSpc>
                <a:spcPts val="6019"/>
              </a:lnSpc>
              <a:buAutoNum type="arabicPeriod" startAt="1"/>
            </a:pPr>
            <a:r>
              <a:rPr lang="en-US" sz="42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API Layer</a:t>
            </a:r>
          </a:p>
          <a:p>
            <a:pPr algn="just">
              <a:lnSpc>
                <a:spcPts val="6019"/>
              </a:lnSpc>
            </a:pPr>
          </a:p>
          <a:p>
            <a:pPr algn="just" marL="928363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Each layer is modular and independent.</a:t>
            </a:r>
          </a:p>
          <a:p>
            <a:pPr algn="just">
              <a:lnSpc>
                <a:spcPts val="601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66362" y="1328878"/>
            <a:ext cx="16155275" cy="15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7"/>
              </a:lnSpc>
            </a:pPr>
            <a:r>
              <a:rPr lang="en-US" b="true" sz="8805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ARCHITECTURE 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71366" y="2867444"/>
            <a:ext cx="14019686" cy="593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79"/>
              </a:lnSpc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Flow:</a:t>
            </a:r>
          </a:p>
          <a:p>
            <a:pPr algn="just" marL="906774" indent="-453387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Client → REST API → PyKV Engine → Persistence File</a:t>
            </a:r>
          </a:p>
          <a:p>
            <a:pPr algn="just">
              <a:lnSpc>
                <a:spcPts val="5879"/>
              </a:lnSpc>
            </a:pPr>
          </a:p>
          <a:p>
            <a:pPr algn="just">
              <a:lnSpc>
                <a:spcPts val="5879"/>
              </a:lnSpc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Components:</a:t>
            </a:r>
          </a:p>
          <a:p>
            <a:pPr algn="just" marL="906774" indent="-453387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API Layer (FastAPI)</a:t>
            </a:r>
          </a:p>
          <a:p>
            <a:pPr algn="just" marL="906774" indent="-453387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In-Memory Store (Dictionary)</a:t>
            </a:r>
          </a:p>
          <a:p>
            <a:pPr algn="just" marL="906774" indent="-453387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File Storage (JSON)</a:t>
            </a:r>
          </a:p>
          <a:p>
            <a:pPr algn="just">
              <a:lnSpc>
                <a:spcPts val="587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97089" y="2496847"/>
            <a:ext cx="13293822" cy="6761453"/>
          </a:xfrm>
          <a:custGeom>
            <a:avLst/>
            <a:gdLst/>
            <a:ahLst/>
            <a:cxnLst/>
            <a:rect r="r" b="b" t="t" l="l"/>
            <a:pathLst>
              <a:path h="6761453" w="13293822">
                <a:moveTo>
                  <a:pt x="0" y="0"/>
                </a:moveTo>
                <a:lnTo>
                  <a:pt x="13293822" y="0"/>
                </a:lnTo>
                <a:lnTo>
                  <a:pt x="13293822" y="6761453"/>
                </a:lnTo>
                <a:lnTo>
                  <a:pt x="0" y="6761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04025" y="591458"/>
            <a:ext cx="16155275" cy="3071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7"/>
              </a:lnSpc>
            </a:pPr>
            <a:r>
              <a:rPr lang="en-US" b="true" sz="8805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SET UP </a:t>
            </a:r>
          </a:p>
          <a:p>
            <a:pPr algn="ctr">
              <a:lnSpc>
                <a:spcPts val="12327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6821" y="2101357"/>
            <a:ext cx="15254359" cy="7665315"/>
          </a:xfrm>
          <a:custGeom>
            <a:avLst/>
            <a:gdLst/>
            <a:ahLst/>
            <a:cxnLst/>
            <a:rect r="r" b="b" t="t" l="l"/>
            <a:pathLst>
              <a:path h="7665315" w="15254359">
                <a:moveTo>
                  <a:pt x="0" y="0"/>
                </a:moveTo>
                <a:lnTo>
                  <a:pt x="15254358" y="0"/>
                </a:lnTo>
                <a:lnTo>
                  <a:pt x="15254358" y="7665316"/>
                </a:lnTo>
                <a:lnTo>
                  <a:pt x="0" y="76653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04025" y="591458"/>
            <a:ext cx="16155275" cy="15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7"/>
              </a:lnSpc>
            </a:pPr>
            <a:r>
              <a:rPr lang="en-US" b="true" sz="8805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DASHBOARD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71366" y="2101357"/>
            <a:ext cx="15422611" cy="7557079"/>
          </a:xfrm>
          <a:custGeom>
            <a:avLst/>
            <a:gdLst/>
            <a:ahLst/>
            <a:cxnLst/>
            <a:rect r="r" b="b" t="t" l="l"/>
            <a:pathLst>
              <a:path h="7557079" w="15422611">
                <a:moveTo>
                  <a:pt x="0" y="0"/>
                </a:moveTo>
                <a:lnTo>
                  <a:pt x="15422611" y="0"/>
                </a:lnTo>
                <a:lnTo>
                  <a:pt x="15422611" y="7557080"/>
                </a:lnTo>
                <a:lnTo>
                  <a:pt x="0" y="7557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04025" y="591458"/>
            <a:ext cx="16155275" cy="15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7"/>
              </a:lnSpc>
            </a:pPr>
            <a:r>
              <a:rPr lang="en-US" b="true" sz="8805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OVERVIEW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8468" y="1557337"/>
            <a:ext cx="17731064" cy="125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27"/>
              </a:lnSpc>
            </a:pPr>
            <a:r>
              <a:rPr lang="en-US" b="true" sz="7305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CORE ENGINE (IN-MEMORY STORE)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18373" y="2876969"/>
            <a:ext cx="10839400" cy="6662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3072" indent="-406536" lvl="1">
              <a:lnSpc>
                <a:spcPts val="5272"/>
              </a:lnSpc>
              <a:buFont typeface="Arial"/>
              <a:buChar char="•"/>
            </a:pPr>
            <a:r>
              <a:rPr lang="en-US" sz="3765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Implemented using Python dictionary</a:t>
            </a:r>
          </a:p>
          <a:p>
            <a:pPr algn="just">
              <a:lnSpc>
                <a:spcPts val="5272"/>
              </a:lnSpc>
            </a:pPr>
          </a:p>
          <a:p>
            <a:pPr algn="just" marL="813072" indent="-406536" lvl="1">
              <a:lnSpc>
                <a:spcPts val="5272"/>
              </a:lnSpc>
              <a:buFont typeface="Arial"/>
              <a:buChar char="•"/>
            </a:pPr>
            <a:r>
              <a:rPr lang="en-US" sz="3765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Supports:</a:t>
            </a:r>
          </a:p>
          <a:p>
            <a:pPr algn="just" marL="813072" indent="-406536" lvl="1">
              <a:lnSpc>
                <a:spcPts val="5272"/>
              </a:lnSpc>
              <a:buAutoNum type="arabicPeriod" startAt="1"/>
            </a:pPr>
            <a:r>
              <a:rPr lang="en-US" sz="3765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PUT (insert/update)</a:t>
            </a:r>
          </a:p>
          <a:p>
            <a:pPr algn="just" marL="813072" indent="-406536" lvl="1">
              <a:lnSpc>
                <a:spcPts val="5272"/>
              </a:lnSpc>
              <a:buAutoNum type="arabicPeriod" startAt="1"/>
            </a:pPr>
            <a:r>
              <a:rPr lang="en-US" sz="3765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GET (retrieve)</a:t>
            </a:r>
          </a:p>
          <a:p>
            <a:pPr algn="just" marL="813072" indent="-406536" lvl="1">
              <a:lnSpc>
                <a:spcPts val="5272"/>
              </a:lnSpc>
              <a:buAutoNum type="arabicPeriod" startAt="1"/>
            </a:pPr>
            <a:r>
              <a:rPr lang="en-US" sz="3765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DELETE (remove)</a:t>
            </a:r>
          </a:p>
          <a:p>
            <a:pPr algn="just">
              <a:lnSpc>
                <a:spcPts val="5832"/>
              </a:lnSpc>
            </a:pPr>
          </a:p>
          <a:p>
            <a:pPr algn="just" marL="813072" indent="-406536" lvl="1">
              <a:lnSpc>
                <a:spcPts val="5272"/>
              </a:lnSpc>
              <a:buFont typeface="Arial"/>
              <a:buChar char="•"/>
            </a:pPr>
            <a:r>
              <a:rPr lang="en-US" sz="3765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Provides O(1) read and write operations</a:t>
            </a:r>
          </a:p>
          <a:p>
            <a:pPr algn="just" marL="813072" indent="-406536" lvl="1">
              <a:lnSpc>
                <a:spcPts val="5272"/>
              </a:lnSpc>
              <a:buFont typeface="Arial"/>
              <a:buChar char="•"/>
            </a:pPr>
            <a:r>
              <a:rPr lang="en-US" sz="3765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Acts as the heart of PyKV</a:t>
            </a:r>
          </a:p>
          <a:p>
            <a:pPr algn="just">
              <a:lnSpc>
                <a:spcPts val="4781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05125" y="1519237"/>
            <a:ext cx="13119945" cy="164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b="true" sz="9604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PERSISTENCE LAYER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76910" y="3662362"/>
            <a:ext cx="12376375" cy="528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49952" indent="-474976" lvl="1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Automatically saves data to disk</a:t>
            </a:r>
          </a:p>
          <a:p>
            <a:pPr algn="just" marL="949952" indent="-474976" lvl="1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Uses JSON file storage</a:t>
            </a:r>
          </a:p>
          <a:p>
            <a:pPr algn="just" marL="949952" indent="-474976" lvl="1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Data is written:</a:t>
            </a:r>
          </a:p>
          <a:p>
            <a:pPr algn="just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       </a:t>
            </a:r>
            <a:r>
              <a:rPr lang="en-US" sz="43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After every PUT</a:t>
            </a:r>
          </a:p>
          <a:p>
            <a:pPr algn="just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       After every DELETE</a:t>
            </a:r>
          </a:p>
          <a:p>
            <a:pPr algn="just" marL="949952" indent="-474976" lvl="1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On startup, data is loaded back into memory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55813" y="1528762"/>
            <a:ext cx="13560477" cy="152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7"/>
              </a:lnSpc>
            </a:pPr>
            <a:r>
              <a:rPr lang="en-US" b="true" sz="8905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API LAYER (FASTAPI)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47863" y="3851010"/>
            <a:ext cx="12376375" cy="444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6774" indent="-453387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Exposes PyKV functionality as REST APIs</a:t>
            </a:r>
          </a:p>
          <a:p>
            <a:pPr algn="just" marL="906774" indent="-453387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Endpoints:</a:t>
            </a:r>
          </a:p>
          <a:p>
            <a:pPr algn="just" marL="906774" indent="-453387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POST /put</a:t>
            </a:r>
          </a:p>
          <a:p>
            <a:pPr algn="just" marL="906774" indent="-453387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GET /get/{key}</a:t>
            </a:r>
          </a:p>
          <a:p>
            <a:pPr algn="just" marL="906774" indent="-453387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DELETE /delete/{key}</a:t>
            </a:r>
          </a:p>
          <a:p>
            <a:pPr algn="just" marL="906774" indent="-453387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Frontend : Streamlit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49522" y="1502326"/>
            <a:ext cx="11882666" cy="146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7"/>
              </a:lnSpc>
            </a:pPr>
            <a:r>
              <a:rPr lang="en-US" b="true" sz="8505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TECHNOLOGIES USED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06130" y="3662363"/>
            <a:ext cx="12376375" cy="4547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Programming Language: Python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Framework: FastAPI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Server: Uvicorn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Storage: JSON file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Tools: VS Code, GitHub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05125" y="1528762"/>
            <a:ext cx="12834195" cy="154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7"/>
              </a:lnSpc>
            </a:pPr>
            <a:r>
              <a:rPr lang="en-US" b="true" sz="9005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FEATURES OF PYKV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11736" y="3662362"/>
            <a:ext cx="12376375" cy="4601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High-speed in-memory data access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Persistent storage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Crash recovery support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Modular design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Easy API-based interaction</a:t>
            </a:r>
          </a:p>
          <a:p>
            <a:pPr algn="just">
              <a:lnSpc>
                <a:spcPts val="517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39355" y="1419773"/>
            <a:ext cx="10009291" cy="154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7"/>
              </a:lnSpc>
            </a:pPr>
            <a:r>
              <a:rPr lang="en-US" b="true" sz="9005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DEMO FLOW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13137" y="3234054"/>
            <a:ext cx="12376375" cy="4547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Start the server using Uvicorn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Insert a key-value pair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Retrieve the value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Restart the server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Retrieve the value again (data persists)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52961" y="2440118"/>
            <a:ext cx="12982078" cy="6352154"/>
          </a:xfrm>
          <a:custGeom>
            <a:avLst/>
            <a:gdLst/>
            <a:ahLst/>
            <a:cxnLst/>
            <a:rect r="r" b="b" t="t" l="l"/>
            <a:pathLst>
              <a:path h="6352154" w="12982078">
                <a:moveTo>
                  <a:pt x="0" y="0"/>
                </a:moveTo>
                <a:lnTo>
                  <a:pt x="12982078" y="0"/>
                </a:lnTo>
                <a:lnTo>
                  <a:pt x="12982078" y="6352154"/>
                </a:lnTo>
                <a:lnTo>
                  <a:pt x="0" y="6352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63762" y="496375"/>
            <a:ext cx="13560477" cy="152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7"/>
              </a:lnSpc>
            </a:pPr>
            <a:r>
              <a:rPr lang="en-US" b="true" sz="8905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STORE OPERATION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76952" y="2758206"/>
            <a:ext cx="13334096" cy="6500094"/>
          </a:xfrm>
          <a:custGeom>
            <a:avLst/>
            <a:gdLst/>
            <a:ahLst/>
            <a:cxnLst/>
            <a:rect r="r" b="b" t="t" l="l"/>
            <a:pathLst>
              <a:path h="6500094" w="13334096">
                <a:moveTo>
                  <a:pt x="0" y="0"/>
                </a:moveTo>
                <a:lnTo>
                  <a:pt x="13334096" y="0"/>
                </a:lnTo>
                <a:lnTo>
                  <a:pt x="13334096" y="6500094"/>
                </a:lnTo>
                <a:lnTo>
                  <a:pt x="0" y="65000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63762" y="496375"/>
            <a:ext cx="13560477" cy="152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7"/>
              </a:lnSpc>
            </a:pPr>
            <a:r>
              <a:rPr lang="en-US" b="true" sz="8905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GET OPERATION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93857" y="2408775"/>
            <a:ext cx="13300286" cy="6428095"/>
          </a:xfrm>
          <a:custGeom>
            <a:avLst/>
            <a:gdLst/>
            <a:ahLst/>
            <a:cxnLst/>
            <a:rect r="r" b="b" t="t" l="l"/>
            <a:pathLst>
              <a:path h="6428095" w="13300286">
                <a:moveTo>
                  <a:pt x="0" y="0"/>
                </a:moveTo>
                <a:lnTo>
                  <a:pt x="13300286" y="0"/>
                </a:lnTo>
                <a:lnTo>
                  <a:pt x="13300286" y="6428095"/>
                </a:lnTo>
                <a:lnTo>
                  <a:pt x="0" y="6428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63762" y="496375"/>
            <a:ext cx="13560477" cy="152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7"/>
              </a:lnSpc>
            </a:pPr>
            <a:r>
              <a:rPr lang="en-US" b="true" sz="8905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DELETE OPERATION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44960" y="1547812"/>
            <a:ext cx="11314958" cy="140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87"/>
              </a:lnSpc>
            </a:pPr>
            <a:r>
              <a:rPr lang="en-US" b="true" sz="8205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CHALLENGES FACED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14450" y="3198494"/>
            <a:ext cx="16416972" cy="537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Python module imports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Virtual environment configuration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API debugging</a:t>
            </a:r>
          </a:p>
          <a:p>
            <a:pPr algn="just" marL="971542" indent="-485771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Data persistence handling</a:t>
            </a:r>
          </a:p>
          <a:p>
            <a:pPr algn="just">
              <a:lnSpc>
                <a:spcPts val="6299"/>
              </a:lnSpc>
            </a:pPr>
          </a:p>
          <a:p>
            <a:pPr algn="just">
              <a:lnSpc>
                <a:spcPts val="6299"/>
              </a:lnSpc>
            </a:pPr>
            <a:r>
              <a:rPr lang="en-US" sz="44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All challenges were resolved through testing and debugging</a:t>
            </a:r>
          </a:p>
          <a:p>
            <a:pPr algn="just">
              <a:lnSpc>
                <a:spcPts val="5039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39355" y="1191343"/>
            <a:ext cx="10009291" cy="146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7"/>
              </a:lnSpc>
            </a:pPr>
            <a:r>
              <a:rPr lang="en-US" b="true" sz="8605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4514" y="2867444"/>
            <a:ext cx="15944850" cy="593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6774" indent="-453387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PyKV successfully combines speed and reliability</a:t>
            </a:r>
          </a:p>
          <a:p>
            <a:pPr algn="just" marL="906774" indent="-453387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Demonstrates core concepts of backend system design</a:t>
            </a:r>
          </a:p>
          <a:p>
            <a:pPr algn="just" marL="906774" indent="-453387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Provides hands-on understanding of:</a:t>
            </a:r>
          </a:p>
          <a:p>
            <a:pPr algn="just" marL="906774" indent="-453387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In-memory storage</a:t>
            </a:r>
          </a:p>
          <a:p>
            <a:pPr algn="just" marL="906774" indent="-453387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Persistence</a:t>
            </a:r>
          </a:p>
          <a:p>
            <a:pPr algn="just" marL="906774" indent="-453387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API-based architecture</a:t>
            </a:r>
          </a:p>
          <a:p>
            <a:pPr algn="just" marL="906774" indent="-453387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Suitable for real-world backend applications</a:t>
            </a:r>
          </a:p>
          <a:p>
            <a:pPr algn="just">
              <a:lnSpc>
                <a:spcPts val="5879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20117" y="885825"/>
            <a:ext cx="12834195" cy="129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7"/>
              </a:lnSpc>
            </a:pPr>
            <a:r>
              <a:rPr lang="en-US" b="true" sz="7605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TEAM CONTRIBUTIONS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71366" y="2876969"/>
            <a:ext cx="15494937" cy="693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DIVYAPPRIYA S - Architecture &amp; Core Engine</a:t>
            </a:r>
          </a:p>
          <a:p>
            <a:pPr algn="just">
              <a:lnSpc>
                <a:spcPts val="5599"/>
              </a:lnSpc>
            </a:pP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MANASHI DEBNATH - Persistence Logic</a:t>
            </a:r>
          </a:p>
          <a:p>
            <a:pPr algn="just">
              <a:lnSpc>
                <a:spcPts val="5599"/>
              </a:lnSpc>
            </a:pP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HARI PRIYAN and DEVANSH TANTWAY - API Development </a:t>
            </a:r>
          </a:p>
          <a:p>
            <a:pPr algn="just">
              <a:lnSpc>
                <a:spcPts val="5599"/>
              </a:lnSpc>
            </a:pP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 SHAIK MAHABOOB BASHA - Testing &amp; Validation</a:t>
            </a:r>
          </a:p>
          <a:p>
            <a:pPr algn="just">
              <a:lnSpc>
                <a:spcPts val="5599"/>
              </a:lnSpc>
            </a:pPr>
          </a:p>
          <a:p>
            <a:pPr algn="just">
              <a:lnSpc>
                <a:spcPts val="5599"/>
              </a:lnSpc>
            </a:pP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35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34754" y="2734094"/>
            <a:ext cx="13018493" cy="656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b="true" sz="12492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THANK </a:t>
            </a:r>
          </a:p>
          <a:p>
            <a:pPr algn="ctr">
              <a:lnSpc>
                <a:spcPts val="17489"/>
              </a:lnSpc>
            </a:pPr>
            <a:r>
              <a:rPr lang="en-US" b="true" sz="12492">
                <a:solidFill>
                  <a:srgbClr val="FFFFFF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YOU </a:t>
            </a:r>
          </a:p>
          <a:p>
            <a:pPr algn="ctr">
              <a:lnSpc>
                <a:spcPts val="1748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DAG_Of6BWTQ</dc:identifier>
  <dcterms:modified xsi:type="dcterms:W3CDTF">2011-08-01T06:04:30Z</dcterms:modified>
  <cp:revision>1</cp:revision>
  <dc:title>PyKV: A Scalable In-Memory Key-Value Store with Persistence</dc:title>
</cp:coreProperties>
</file>